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85" r:id="rId2"/>
    <p:sldId id="286" r:id="rId3"/>
    <p:sldId id="287" r:id="rId4"/>
    <p:sldId id="297" r:id="rId5"/>
    <p:sldId id="294" r:id="rId6"/>
    <p:sldId id="288" r:id="rId7"/>
    <p:sldId id="299" r:id="rId8"/>
    <p:sldId id="300" r:id="rId9"/>
    <p:sldId id="292" r:id="rId10"/>
    <p:sldId id="301" r:id="rId11"/>
    <p:sldId id="302" r:id="rId12"/>
    <p:sldId id="303" r:id="rId13"/>
    <p:sldId id="305" r:id="rId14"/>
    <p:sldId id="306" r:id="rId15"/>
    <p:sldId id="304" r:id="rId16"/>
    <p:sldId id="307" r:id="rId17"/>
    <p:sldId id="308" r:id="rId18"/>
    <p:sldId id="309" r:id="rId19"/>
    <p:sldId id="310" r:id="rId20"/>
    <p:sldId id="311" r:id="rId21"/>
    <p:sldId id="289" r:id="rId22"/>
    <p:sldId id="313" r:id="rId23"/>
    <p:sldId id="312" r:id="rId24"/>
    <p:sldId id="290" r:id="rId25"/>
    <p:sldId id="295" r:id="rId2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2D86"/>
    <a:srgbClr val="EAEF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433" autoAdjust="0"/>
  </p:normalViewPr>
  <p:slideViewPr>
    <p:cSldViewPr snapToGrid="0">
      <p:cViewPr varScale="1">
        <p:scale>
          <a:sx n="112" d="100"/>
          <a:sy n="112" d="100"/>
        </p:scale>
        <p:origin x="-510" y="-84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A2BB0-0782-47EE-A215-90028D32CD6A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7FBA-2DBE-4245-B968-C54D0061279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0090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80927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49758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39388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95726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33443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60423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10846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90254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82664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12047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85109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C7FBA-2DBE-4245-B968-C54D0061279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66346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43B3E-65FE-4235-AB27-750F9EC501E1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5960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77C42-2605-4FDD-A1D8-B236BEEE8C66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968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EB07-C3A0-4814-B7A6-18A925B0A529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34517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0FF2-8CE1-476B-8DDC-6EC41C8A6624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9103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C7DC-B6F0-4782-8654-2CDFA5DDB468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79621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3C4C-FA60-4563-ABC6-74CDB666652C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62394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762AB-FF8B-4383-ABB2-641ADE65E447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1945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4B7B1-5879-4F18-9212-469EEEC12710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4392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E235-FA4A-46F9-A91E-FF004A7ED002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732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4AB64-6A9F-45B6-BC15-FB89BC6C8860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53608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F7EB-9E4B-49DF-B0FF-D821F1D2DEAB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9647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01276-1B0D-4DA5-9F71-6C00ACA70EB2}" type="datetime1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4395B-0734-45D0-B7FF-9642190F6E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7361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3869248-DDDA-1098-01B8-5008E3565F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75" y="-245275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8EB127B-5FF2-96DD-19D1-72AE0CC4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00" y="0"/>
            <a:ext cx="11753849" cy="1835272"/>
          </a:xfrm>
        </p:spPr>
        <p:txBody>
          <a:bodyPr>
            <a:normAutofit/>
          </a:bodyPr>
          <a:lstStyle/>
          <a:p>
            <a:pPr algn="ctr"/>
            <a:r>
              <a:rPr lang="ru-RU" sz="3200" b="1" i="1" dirty="0">
                <a:solidFill>
                  <a:srgbClr val="002D86"/>
                </a:solidFill>
              </a:rPr>
              <a:t>ОКР «Разработать и освоить производство программируемого измерителя параметров полупроводниковых приборов повышенной мощности», шифр «Линия-2»</a:t>
            </a:r>
            <a:endParaRPr lang="x-none" sz="3200" b="1" i="1" dirty="0">
              <a:solidFill>
                <a:srgbClr val="002D86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001056B-CE23-F762-14BB-C74001B2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78" y="1835273"/>
            <a:ext cx="12208860" cy="477745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300" b="1" u="sng" dirty="0">
                <a:solidFill>
                  <a:schemeClr val="accent5">
                    <a:lumMod val="50000"/>
                  </a:schemeClr>
                </a:solidFill>
              </a:rPr>
              <a:t>Разработчик:</a:t>
            </a:r>
            <a:r>
              <a:rPr lang="ru-RU" sz="23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ru-RU" sz="2300" b="1" dirty="0">
                <a:solidFill>
                  <a:srgbClr val="002060"/>
                </a:solidFill>
              </a:rPr>
              <a:t>ОАО «МНИПИ»</a:t>
            </a:r>
          </a:p>
          <a:p>
            <a:pPr marL="0" indent="0">
              <a:buNone/>
            </a:pPr>
            <a:r>
              <a:rPr lang="ru-RU" sz="2300" b="1" u="sng" dirty="0">
                <a:solidFill>
                  <a:schemeClr val="accent5">
                    <a:lumMod val="50000"/>
                  </a:schemeClr>
                </a:solidFill>
              </a:rPr>
              <a:t>Изготовитель:</a:t>
            </a:r>
            <a:r>
              <a:rPr lang="ru-RU" sz="23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ru-RU" sz="2300" b="1" dirty="0">
                <a:solidFill>
                  <a:srgbClr val="002060"/>
                </a:solidFill>
              </a:rPr>
              <a:t>ОАО «МНИПИ»</a:t>
            </a:r>
          </a:p>
          <a:p>
            <a:pPr marL="0" indent="0">
              <a:buNone/>
            </a:pPr>
            <a:r>
              <a:rPr lang="ru-RU" sz="2300" b="1" u="sng" dirty="0">
                <a:solidFill>
                  <a:schemeClr val="accent5">
                    <a:lumMod val="50000"/>
                  </a:schemeClr>
                </a:solidFill>
              </a:rPr>
              <a:t>Сроки выполнения ОКР</a:t>
            </a:r>
            <a:r>
              <a:rPr lang="ru-RU" b="1" dirty="0">
                <a:solidFill>
                  <a:srgbClr val="002060"/>
                </a:solidFill>
              </a:rPr>
              <a:t>: 2 кв. 2025 г. – 1 кв. 2027 г.</a:t>
            </a:r>
          </a:p>
          <a:p>
            <a:pPr marL="0" indent="0">
              <a:buNone/>
            </a:pPr>
            <a:r>
              <a:rPr lang="ru-RU" sz="2300" b="1" u="sng" dirty="0">
                <a:solidFill>
                  <a:schemeClr val="accent5">
                    <a:lumMod val="50000"/>
                  </a:schemeClr>
                </a:solidFill>
              </a:rPr>
              <a:t>Срок выполнения работ по освоению продукции</a:t>
            </a:r>
            <a:r>
              <a:rPr lang="ru-RU" sz="2300" b="1" dirty="0">
                <a:solidFill>
                  <a:schemeClr val="accent5">
                    <a:lumMod val="50000"/>
                  </a:schemeClr>
                </a:solidFill>
              </a:rPr>
              <a:t>: </a:t>
            </a:r>
            <a:r>
              <a:rPr lang="ru-RU" b="1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ru-RU" b="1" dirty="0">
                <a:solidFill>
                  <a:srgbClr val="002060"/>
                </a:solidFill>
              </a:rPr>
              <a:t> кв. 2027 г. – 4 кв. 2031 г.</a:t>
            </a:r>
          </a:p>
          <a:p>
            <a:pPr marL="0" indent="0">
              <a:buNone/>
            </a:pPr>
            <a:r>
              <a:rPr lang="ru-RU" sz="2300" b="1" u="sng" dirty="0">
                <a:solidFill>
                  <a:schemeClr val="accent5">
                    <a:lumMod val="50000"/>
                  </a:schemeClr>
                </a:solidFill>
              </a:rPr>
              <a:t>Объем финансирования</a:t>
            </a:r>
            <a:r>
              <a:rPr lang="ru-RU" sz="2500" b="1" u="sng" dirty="0">
                <a:solidFill>
                  <a:schemeClr val="accent5">
                    <a:lumMod val="50000"/>
                  </a:schemeClr>
                </a:solidFill>
              </a:rPr>
              <a:t>:</a:t>
            </a:r>
            <a:r>
              <a:rPr lang="ru-RU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ru-RU" b="1" dirty="0">
                <a:solidFill>
                  <a:srgbClr val="002060"/>
                </a:solidFill>
              </a:rPr>
              <a:t>1 315 000,00, </a:t>
            </a:r>
          </a:p>
          <a:p>
            <a:pPr marL="0" indent="0">
              <a:buNone/>
            </a:pPr>
            <a:r>
              <a:rPr lang="ru-RU" sz="1900" b="1" dirty="0">
                <a:solidFill>
                  <a:schemeClr val="accent5">
                    <a:lumMod val="50000"/>
                  </a:schemeClr>
                </a:solidFill>
              </a:rPr>
              <a:t>в том числе: </a:t>
            </a:r>
            <a:r>
              <a:rPr lang="ru-RU" sz="1900" b="1" dirty="0">
                <a:solidFill>
                  <a:srgbClr val="002060"/>
                </a:solidFill>
              </a:rPr>
              <a:t>1 300 000,00 руб</a:t>
            </a:r>
            <a:r>
              <a:rPr lang="ru-RU" sz="1900" b="1" dirty="0">
                <a:solidFill>
                  <a:schemeClr val="accent5">
                    <a:lumMod val="50000"/>
                  </a:schemeClr>
                </a:solidFill>
              </a:rPr>
              <a:t>. </a:t>
            </a:r>
            <a:r>
              <a:rPr lang="ru-RU" sz="2200" b="1" dirty="0">
                <a:solidFill>
                  <a:schemeClr val="accent5">
                    <a:lumMod val="50000"/>
                  </a:schemeClr>
                </a:solidFill>
              </a:rPr>
              <a:t>– </a:t>
            </a: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</a:rPr>
              <a:t>650 000,00 руб. - средства внебюджетного централизованного инвестиционного фонда ГВПК </a:t>
            </a:r>
            <a:r>
              <a:rPr lang="ru-RU" sz="1500" b="1" dirty="0">
                <a:solidFill>
                  <a:schemeClr val="accent5">
                    <a:lumMod val="50000"/>
                  </a:schemeClr>
                </a:solidFill>
              </a:rPr>
              <a:t>(ВЦИФ ГВПК)</a:t>
            </a:r>
            <a:endParaRPr lang="ru-RU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</a:rPr>
              <a:t>		                               650 000,00 руб. – средства ОАО «Интеграл»</a:t>
            </a:r>
          </a:p>
          <a:p>
            <a:pPr marL="0" indent="0">
              <a:buNone/>
            </a:pPr>
            <a:r>
              <a:rPr lang="ru-RU" sz="2200" b="1" dirty="0">
                <a:solidFill>
                  <a:schemeClr val="accent5">
                    <a:lumMod val="50000"/>
                  </a:schemeClr>
                </a:solidFill>
              </a:rPr>
              <a:t>                           </a:t>
            </a:r>
            <a:r>
              <a:rPr lang="ru-RU" sz="1900" b="1" dirty="0">
                <a:solidFill>
                  <a:srgbClr val="002060"/>
                </a:solidFill>
              </a:rPr>
              <a:t>15 000,00 </a:t>
            </a:r>
            <a:r>
              <a:rPr lang="ru-RU" sz="1900" b="1" dirty="0">
                <a:solidFill>
                  <a:schemeClr val="accent5">
                    <a:lumMod val="50000"/>
                  </a:schemeClr>
                </a:solidFill>
              </a:rPr>
              <a:t>руб. </a:t>
            </a:r>
            <a:r>
              <a:rPr lang="ru-RU" sz="2200" b="1" dirty="0">
                <a:solidFill>
                  <a:schemeClr val="accent5">
                    <a:lumMod val="50000"/>
                  </a:schemeClr>
                </a:solidFill>
              </a:rPr>
              <a:t>–  </a:t>
            </a:r>
            <a:r>
              <a:rPr lang="ru-RU" sz="1600" b="1" dirty="0">
                <a:solidFill>
                  <a:schemeClr val="accent5">
                    <a:lumMod val="50000"/>
                  </a:schemeClr>
                </a:solidFill>
              </a:rPr>
              <a:t>собственные средства ОАО «МНИПИ» </a:t>
            </a:r>
          </a:p>
          <a:p>
            <a:pPr marL="0" indent="0">
              <a:buNone/>
            </a:pPr>
            <a:endParaRPr lang="ru-RU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2200" b="1" u="sng" dirty="0">
                <a:solidFill>
                  <a:schemeClr val="accent5">
                    <a:lumMod val="50000"/>
                  </a:schemeClr>
                </a:solidFill>
              </a:rPr>
              <a:t>Потребители: </a:t>
            </a:r>
          </a:p>
          <a:p>
            <a:pPr marL="0" indent="0">
              <a:buNone/>
            </a:pPr>
            <a:r>
              <a:rPr lang="ru-RU" sz="2200" b="1" dirty="0">
                <a:solidFill>
                  <a:schemeClr val="accent5">
                    <a:lumMod val="50000"/>
                  </a:schemeClr>
                </a:solidFill>
              </a:rPr>
              <a:t>Предприятия электронной отрасли (ОАО «Интеграл», АО «НПП «Завод «Искра», АО «ВЗПП-С» и др.)</a:t>
            </a:r>
            <a:endParaRPr lang="ru-RU" sz="2200" b="1" u="sng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ru-RU" dirty="0"/>
          </a:p>
          <a:p>
            <a:endParaRPr lang="x-none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E3F3AF6-2B45-AB47-8F81-DAA3ABF4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1" y="6492875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84628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FAD6544D-566B-7574-DED8-F68A73A47C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74A0179-0AD3-4D23-E0E2-09AABCC2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Актуальность работы</a:t>
            </a:r>
            <a:endParaRPr lang="x-none" b="1" dirty="0">
              <a:solidFill>
                <a:srgbClr val="00206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376B13B-1B26-BFBF-CEB1-7EF1E6CF8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	</a:t>
            </a:r>
            <a:r>
              <a:rPr lang="ru-RU" sz="3200" dirty="0">
                <a:solidFill>
                  <a:srgbClr val="002060"/>
                </a:solidFill>
              </a:rPr>
              <a:t>Необходимость постановки ОКР заключается в отсутствии в РБ, РФ современной контрольно-измерительной техники (КИТ) для контроля параметров ЭКБ при разработке и производстве.</a:t>
            </a:r>
          </a:p>
          <a:p>
            <a:pPr marL="0" indent="0" algn="just">
              <a:buNone/>
            </a:pPr>
            <a:r>
              <a:rPr lang="ru-RU" sz="3200" dirty="0">
                <a:solidFill>
                  <a:srgbClr val="002060"/>
                </a:solidFill>
              </a:rPr>
              <a:t>	Существующая КИТ (ПНКТ-1, Л2-56, Л2-100, ИППП-1, ИППП-3) морально устарела, уступает оборудованию ведущих зарубежных компаний (</a:t>
            </a:r>
            <a:r>
              <a:rPr lang="en-US" sz="3200" dirty="0">
                <a:solidFill>
                  <a:srgbClr val="002060"/>
                </a:solidFill>
              </a:rPr>
              <a:t>Keysight</a:t>
            </a:r>
            <a:r>
              <a:rPr lang="ru-RU" sz="3200" dirty="0">
                <a:solidFill>
                  <a:srgbClr val="002060"/>
                </a:solidFill>
              </a:rPr>
              <a:t>, </a:t>
            </a:r>
            <a:r>
              <a:rPr lang="en-US" sz="3200" dirty="0">
                <a:solidFill>
                  <a:srgbClr val="002060"/>
                </a:solidFill>
              </a:rPr>
              <a:t>Keithley</a:t>
            </a:r>
            <a:r>
              <a:rPr lang="ru-RU" sz="3200" dirty="0">
                <a:solidFill>
                  <a:srgbClr val="002060"/>
                </a:solidFill>
              </a:rPr>
              <a:t>, </a:t>
            </a:r>
            <a:r>
              <a:rPr lang="en-US" sz="3200" dirty="0">
                <a:solidFill>
                  <a:srgbClr val="002060"/>
                </a:solidFill>
              </a:rPr>
              <a:t>Iwatsu</a:t>
            </a:r>
            <a:r>
              <a:rPr lang="ru-RU" sz="3200" dirty="0">
                <a:solidFill>
                  <a:srgbClr val="002060"/>
                </a:solidFill>
              </a:rPr>
              <a:t>). </a:t>
            </a:r>
            <a:endParaRPr lang="x-none" sz="3200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14E57D58-9D1E-3DA6-0299-908CDFF8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5564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B0E65D80-2DB1-D7F9-3F5B-D1BB279CD0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E8E00E0-ECB4-2606-811F-788FF93A6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761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Цель</a:t>
            </a:r>
            <a:endParaRPr lang="x-none" b="1" dirty="0">
              <a:solidFill>
                <a:srgbClr val="00206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27EEAD1-AD61-87FE-A9FE-D1E68D166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744"/>
            <a:ext cx="10515600" cy="4954219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>
                <a:solidFill>
                  <a:srgbClr val="002060"/>
                </a:solidFill>
              </a:rPr>
              <a:t>Цель: создание и освоение производства конкурентоспособного программируемого измерителя параметров силовых полупроводниковых приборов (ПП) с диапазоном тока </a:t>
            </a:r>
            <a:r>
              <a:rPr lang="ru-RU" b="1" dirty="0">
                <a:solidFill>
                  <a:srgbClr val="00B050"/>
                </a:solidFill>
              </a:rPr>
              <a:t>от </a:t>
            </a:r>
            <a:r>
              <a:rPr lang="ru-RU" b="1" dirty="0" err="1">
                <a:solidFill>
                  <a:srgbClr val="00B050"/>
                </a:solidFill>
              </a:rPr>
              <a:t>наноампер</a:t>
            </a:r>
            <a:r>
              <a:rPr lang="ru-RU" b="1" dirty="0">
                <a:solidFill>
                  <a:srgbClr val="002060"/>
                </a:solidFill>
              </a:rPr>
              <a:t> до сотен ампер </a:t>
            </a:r>
            <a:r>
              <a:rPr lang="ru-RU" dirty="0">
                <a:solidFill>
                  <a:srgbClr val="002060"/>
                </a:solidFill>
              </a:rPr>
              <a:t>и с диапазоном напряжения от милливольт до трех тысяч вольт, обеспечивающий автоматизацию контроля электрических параметров ПП.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002060"/>
                </a:solidFill>
              </a:rPr>
              <a:t>	Новый измеритель должен: 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измерять стандартные параметры ПП ;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формировать отчет по результатам измерений; 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обладать функциональными возможностями на уровне современных требований;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быть интуитивно понятным - не требовать специальных знаний в области программирования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sz="1900" i="1" dirty="0" err="1">
                <a:solidFill>
                  <a:srgbClr val="0070C0"/>
                </a:solidFill>
              </a:rPr>
              <a:t>Справочно</a:t>
            </a:r>
            <a:r>
              <a:rPr lang="ru-RU" sz="1900" i="1" dirty="0">
                <a:solidFill>
                  <a:srgbClr val="0070C0"/>
                </a:solidFill>
              </a:rPr>
              <a:t>: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1900" i="1" dirty="0">
                <a:solidFill>
                  <a:srgbClr val="0070C0"/>
                </a:solidFill>
              </a:rPr>
              <a:t>Измеритель ИППП предназначен для контроля параметров широкой номенклатуры полупроводниковых: биполярных транзисторов (эмиттер-база-коллектор), полевых транзисторов (сток-исток-затвор), диодов.</a:t>
            </a:r>
            <a:endParaRPr lang="x-none" sz="1900" i="1" dirty="0">
              <a:solidFill>
                <a:srgbClr val="0070C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06973343-FAE7-1BD9-279A-B8967AB4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735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53415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B0E65D80-2DB1-D7F9-3F5B-D1BB279CD0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E8E00E0-ECB4-2606-811F-788FF93A6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761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Задачи</a:t>
            </a:r>
            <a:endParaRPr lang="x-none" b="1" dirty="0">
              <a:solidFill>
                <a:srgbClr val="00206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27EEAD1-AD61-87FE-A9FE-D1E68D166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744"/>
            <a:ext cx="10515600" cy="5269496"/>
          </a:xfrm>
        </p:spPr>
        <p:txBody>
          <a:bodyPr>
            <a:normAutofit fontScale="70000" lnSpcReduction="20000"/>
          </a:bodyPr>
          <a:lstStyle/>
          <a:p>
            <a:r>
              <a:rPr lang="ru-RU" dirty="0">
                <a:solidFill>
                  <a:srgbClr val="002060"/>
                </a:solidFill>
              </a:rPr>
              <a:t>адаптация технических и конструктивных решений измерительных узлов в каналах коллектора и базы прибора ИППП-3 к современным требованиям, с последующим изготовлением и настройкой новых узлов;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разработка новых технических решений для реализации режима большого тока (200 А) в канале коллектора и импульсного режима (5 А) в канале базы с последующим изготовлением и настройкой соответствующих узлов;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разработка, изготовление и настройка программируемого контроллера для управления измерительными блоками, с учетом требований электромагнитной совместимости;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разработка, изготовления и настройки узлов связи с контроллером каждого из измерительных блоков;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разработка и отладка программного обеспечения (ПО) для контроллера и измерительных блоков;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разработка и отладка управляющего пакета ПО для внешнего ПК, обеспечивающего возможность задания условий измерений и автоматизацию измерений, возможность отображения результатов измерения в виде графиков и таблиц, возможность формирования и редактирования библиотек стандартных и пользовательских тестов.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u-RU" dirty="0">
                <a:solidFill>
                  <a:srgbClr val="002060"/>
                </a:solidFill>
              </a:rPr>
              <a:t>При выполнении задания планируется изготовление макета и двух опытных образцов нового измерителя.</a:t>
            </a:r>
            <a:endParaRPr lang="x-none" sz="1900" i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06973343-FAE7-1BD9-279A-B8967AB4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735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552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77239DAD-5944-60CF-F908-C1E30363A2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7EE04EA-18AB-20CB-312F-3D652D87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002060"/>
                </a:solidFill>
              </a:rPr>
              <a:t>Измерители параметров полупроводников приборов, созданные ОАО «МНИПИ»</a:t>
            </a:r>
            <a:endParaRPr lang="x-none" sz="3600" b="1" dirty="0">
              <a:solidFill>
                <a:srgbClr val="002060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C9E18464-1099-8650-C46F-FDF02009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ИППП-1, 2004 год</a:t>
            </a:r>
            <a:endParaRPr lang="x-none" dirty="0">
              <a:solidFill>
                <a:srgbClr val="002060"/>
              </a:solidFill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="" xmlns:a16="http://schemas.microsoft.com/office/drawing/2014/main" id="{30D25960-993E-9C37-50DE-6D5EEF85C5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/>
          <a:stretch>
            <a:fillRect/>
          </a:stretch>
        </p:blipFill>
        <p:spPr>
          <a:xfrm>
            <a:off x="1477926" y="2505075"/>
            <a:ext cx="4253023" cy="3190921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3E3B4CB8-8467-9A05-B7E5-0623C29BC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ИППП-3/1, 2010 год</a:t>
            </a:r>
            <a:endParaRPr lang="x-none" dirty="0">
              <a:solidFill>
                <a:srgbClr val="002060"/>
              </a:solidFill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="" xmlns:a16="http://schemas.microsoft.com/office/drawing/2014/main" id="{6CC4D01D-5B95-8026-6605-BB6228482EF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 cstate="print"/>
          <a:stretch>
            <a:fillRect/>
          </a:stretch>
        </p:blipFill>
        <p:spPr>
          <a:xfrm>
            <a:off x="7038753" y="2505076"/>
            <a:ext cx="4019106" cy="3225522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B2F10C6E-D659-B1CD-A424-B4963DE4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735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7861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EB106C8-5A4D-4B2C-E09A-CB4FAC4B7D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575FEB4-7078-87C5-8808-D62A338F1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Новизна разработки</a:t>
            </a:r>
            <a:endParaRPr lang="x-none" b="1" dirty="0">
              <a:solidFill>
                <a:srgbClr val="00206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4CEC7C8-8078-3848-30EA-4CA945558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>
                <a:solidFill>
                  <a:srgbClr val="002060"/>
                </a:solidFill>
              </a:rPr>
              <a:t>Новизна разработки заключается в аппаратно-программной реализации новой концепции построения программируемого измерителя параметров силовых ПП, которая обеспечит возможность объединения в одном приборе уникальной совокупности характеристик: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002060"/>
                </a:solidFill>
              </a:rPr>
              <a:t>	- проведение измерений в автоматическом режиме и в режиме ручной регулировки (режим </a:t>
            </a:r>
            <a:r>
              <a:rPr lang="ru-RU" dirty="0" err="1">
                <a:solidFill>
                  <a:srgbClr val="002060"/>
                </a:solidFill>
              </a:rPr>
              <a:t>характериографа</a:t>
            </a:r>
            <a:r>
              <a:rPr lang="ru-RU" dirty="0">
                <a:solidFill>
                  <a:srgbClr val="002060"/>
                </a:solidFill>
              </a:rPr>
              <a:t>) при формировании развертки: непрерывным ступенчато-изменяющимся сигналом напряжения, пульсирующим сигналом и импульсным сигналом прямоугольной формы в режиме высокого напряжения (до ± 3000 В) и импульсным сигналом прямоугольной формы в режиме большого тока (до ± 200 А);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002060"/>
                </a:solidFill>
              </a:rPr>
              <a:t>	- возможность измерения ВАХ высоковольтных транзисторов при напряжении в цепи коллектора (стока) до 3000 В и токах от </a:t>
            </a:r>
            <a:r>
              <a:rPr lang="ru-RU" dirty="0" err="1">
                <a:solidFill>
                  <a:srgbClr val="002060"/>
                </a:solidFill>
              </a:rPr>
              <a:t>наноампер</a:t>
            </a:r>
            <a:r>
              <a:rPr lang="ru-RU" dirty="0">
                <a:solidFill>
                  <a:srgbClr val="002060"/>
                </a:solidFill>
              </a:rPr>
              <a:t> до 50 мА. </a:t>
            </a:r>
          </a:p>
          <a:p>
            <a:endParaRPr lang="x-none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F8446F30-9E7C-5E44-CF3E-0710F07F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492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69913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EB106C8-5A4D-4B2C-E09A-CB4FAC4B7D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575FEB4-7078-87C5-8808-D62A338F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0"/>
            <a:ext cx="10515600" cy="86311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Календарный план</a:t>
            </a:r>
            <a:br>
              <a:rPr lang="ru-RU" b="1" dirty="0">
                <a:solidFill>
                  <a:srgbClr val="002060"/>
                </a:solidFill>
              </a:rPr>
            </a:br>
            <a:r>
              <a:rPr lang="ru-RU" sz="2000" b="1" dirty="0">
                <a:solidFill>
                  <a:srgbClr val="002060"/>
                </a:solidFill>
              </a:rPr>
              <a:t>на 1 кв. 2025 г. – 1 кв. 2027 г.</a:t>
            </a:r>
            <a:endParaRPr lang="x-none" sz="2000" b="1" dirty="0">
              <a:solidFill>
                <a:srgbClr val="00206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4CEC7C8-8078-3848-30EA-4CA945558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>
                <a:solidFill>
                  <a:srgbClr val="002060"/>
                </a:solidFill>
              </a:rPr>
              <a:t> </a:t>
            </a:r>
          </a:p>
          <a:p>
            <a:endParaRPr lang="x-none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F8446F30-9E7C-5E44-CF3E-0710F07F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492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 cstate="print"/>
          <a:srcRect l="16047" t="23363" r="19156" b="12252"/>
          <a:stretch/>
        </p:blipFill>
        <p:spPr>
          <a:xfrm>
            <a:off x="411892" y="864973"/>
            <a:ext cx="11368216" cy="598067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93122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EB106C8-5A4D-4B2C-E09A-CB4FAC4B7D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575FEB4-7078-87C5-8808-D62A338F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59"/>
            <a:ext cx="10515600" cy="995848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solidFill>
                  <a:srgbClr val="002060"/>
                </a:solidFill>
              </a:rPr>
              <a:t>(продолжение)</a:t>
            </a:r>
            <a:endParaRPr lang="x-none" sz="32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F8446F30-9E7C-5E44-CF3E-0710F07F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492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 cstate="print"/>
          <a:srcRect l="16047" t="18078" r="19223" b="31111"/>
          <a:stretch/>
        </p:blipFill>
        <p:spPr>
          <a:xfrm>
            <a:off x="427618" y="1171272"/>
            <a:ext cx="11336764" cy="500569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41753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61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3B74137-D4CF-3C14-2E76-1B9B75375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483"/>
            <a:ext cx="10515600" cy="859870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Структурные и функциональные схемы</a:t>
            </a:r>
            <a:endParaRPr lang="x-none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8243144A-8745-4024-82E5-591F2FBD95E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09887" y="1014412"/>
            <a:ext cx="6372225" cy="4829175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="" xmlns:a16="http://schemas.microsoft.com/office/drawing/2014/main" id="{E95309BC-1F83-44E0-958A-7505B41CC5A8}"/>
              </a:ext>
            </a:extLst>
          </p:cNvPr>
          <p:cNvSpPr txBox="1">
            <a:spLocks/>
          </p:cNvSpPr>
          <p:nvPr/>
        </p:nvSpPr>
        <p:spPr>
          <a:xfrm>
            <a:off x="3197474" y="5843587"/>
            <a:ext cx="6024154" cy="7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Структурная схема Анализатора ВАХ</a:t>
            </a:r>
            <a:endParaRPr lang="x-none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8618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61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3B74137-D4CF-3C14-2E76-1B9B75375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22"/>
            <a:ext cx="10515600" cy="92294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Структурные и функциональные схемы</a:t>
            </a:r>
            <a:endParaRPr lang="x-none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D1BA2C23-9400-45FC-8001-C3CA4E6E7AA5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43478" y="912006"/>
            <a:ext cx="4161315" cy="58129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E619D0DD-5D81-4C4D-AA7F-07D575D651E9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791312" y="912005"/>
            <a:ext cx="4485606" cy="583038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17702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61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3B74137-D4CF-3C14-2E76-1B9B75375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22"/>
            <a:ext cx="10515600" cy="92294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Структурные и функциональные схемы</a:t>
            </a:r>
            <a:endParaRPr lang="x-none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050" name="Рисунок 5">
            <a:extLst>
              <a:ext uri="{FF2B5EF4-FFF2-40B4-BE49-F238E27FC236}">
                <a16:creationId xmlns="" xmlns:a16="http://schemas.microsoft.com/office/drawing/2014/main" id="{16532894-4362-4317-9804-038F2D2CC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569" y="790948"/>
            <a:ext cx="8242254" cy="520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Заголовок 1">
            <a:extLst>
              <a:ext uri="{FF2B5EF4-FFF2-40B4-BE49-F238E27FC236}">
                <a16:creationId xmlns="" xmlns:a16="http://schemas.microsoft.com/office/drawing/2014/main" id="{566CA358-DFE5-46F6-8C65-E466D486EBC1}"/>
              </a:ext>
            </a:extLst>
          </p:cNvPr>
          <p:cNvSpPr txBox="1">
            <a:spLocks/>
          </p:cNvSpPr>
          <p:nvPr/>
        </p:nvSpPr>
        <p:spPr>
          <a:xfrm>
            <a:off x="3197474" y="5843587"/>
            <a:ext cx="6024154" cy="7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Структурная схема контроллера</a:t>
            </a:r>
            <a:endParaRPr lang="x-none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2117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61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Объект 5">
            <a:extLst>
              <a:ext uri="{FF2B5EF4-FFF2-40B4-BE49-F238E27FC236}">
                <a16:creationId xmlns="" xmlns:a16="http://schemas.microsoft.com/office/drawing/2014/main" id="{AC08170C-F4A6-4ABD-967C-1E39058E5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868" y="1225394"/>
            <a:ext cx="9347200" cy="42050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Контроллер предназначен для:</a:t>
            </a:r>
            <a:endParaRPr lang="x-none" dirty="0"/>
          </a:p>
          <a:p>
            <a:r>
              <a:rPr lang="ru-RU" dirty="0"/>
              <a:t>- установки режимов работы программируемых блоков;</a:t>
            </a:r>
            <a:endParaRPr lang="x-none" dirty="0"/>
          </a:p>
          <a:p>
            <a:r>
              <a:rPr lang="ru-RU" dirty="0"/>
              <a:t>- задания моментов измерения мгновенных значений испытательных сигналов, сбора результатов измерения, отображения ВАХ;</a:t>
            </a:r>
            <a:endParaRPr lang="x-none" dirty="0"/>
          </a:p>
          <a:p>
            <a:r>
              <a:rPr lang="ru-RU" dirty="0"/>
              <a:t>- формирования напряжения развертки на основе переменного напряжения сети 50 Гц в режиме «Высокое напряжение»;</a:t>
            </a:r>
            <a:endParaRPr lang="x-none" dirty="0"/>
          </a:p>
          <a:p>
            <a:r>
              <a:rPr lang="ru-RU" dirty="0"/>
              <a:t>- формирования испытательного сигнала в режиме «Большой ток».</a:t>
            </a:r>
            <a:endParaRPr lang="x-none" dirty="0"/>
          </a:p>
          <a:p>
            <a:pPr marL="0" indent="0">
              <a:buNone/>
            </a:pPr>
            <a:endParaRPr lang="ru-RU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="" xmlns:a16="http://schemas.microsoft.com/office/drawing/2014/main" id="{09BEA0CC-83A5-44C7-892D-110A2365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</a:t>
            </a:r>
            <a:endParaRPr lang="x-none" dirty="0"/>
          </a:p>
        </p:txBody>
      </p:sp>
    </p:spTree>
    <p:extLst>
      <p:ext uri="{BB962C8B-B14F-4D97-AF65-F5344CB8AC3E}">
        <p14:creationId xmlns="" xmlns:p14="http://schemas.microsoft.com/office/powerpoint/2010/main" val="2328820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700"/>
            <a:ext cx="12192000" cy="68561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="" xmlns:a16="http://schemas.microsoft.com/office/drawing/2014/main" id="{09BEA0CC-83A5-44C7-892D-110A2365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</a:t>
            </a:r>
            <a:endParaRPr lang="x-none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7441B60F-1B12-454F-90B0-FA6BE4A488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223" y="245699"/>
            <a:ext cx="8894150" cy="5963511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E4EEBF7C-9754-46EA-9D33-C8A057C5178B}"/>
              </a:ext>
            </a:extLst>
          </p:cNvPr>
          <p:cNvSpPr txBox="1">
            <a:spLocks/>
          </p:cNvSpPr>
          <p:nvPr/>
        </p:nvSpPr>
        <p:spPr>
          <a:xfrm>
            <a:off x="3197474" y="6112147"/>
            <a:ext cx="6024154" cy="7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Внешний вид Анализатора ВАХ</a:t>
            </a:r>
            <a:endParaRPr lang="x-none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40959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074"/>
            <a:ext cx="12192000" cy="68561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="" xmlns:a16="http://schemas.microsoft.com/office/drawing/2014/main" id="{09BEA0CC-83A5-44C7-892D-110A2365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</a:t>
            </a:r>
            <a:endParaRPr lang="x-none" dirty="0"/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E4EEBF7C-9754-46EA-9D33-C8A057C5178B}"/>
              </a:ext>
            </a:extLst>
          </p:cNvPr>
          <p:cNvSpPr txBox="1">
            <a:spLocks/>
          </p:cNvSpPr>
          <p:nvPr/>
        </p:nvSpPr>
        <p:spPr>
          <a:xfrm>
            <a:off x="3153931" y="6252124"/>
            <a:ext cx="6024154" cy="7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 </a:t>
            </a:r>
            <a:endParaRPr lang="x-none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C135DFED-3D9F-466A-BAB4-877BF34A31B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92" t="1441" r="1295" b="7524"/>
          <a:stretch/>
        </p:blipFill>
        <p:spPr>
          <a:xfrm>
            <a:off x="2116183" y="217074"/>
            <a:ext cx="8325394" cy="615940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14797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700"/>
            <a:ext cx="12192000" cy="68561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="" xmlns:a16="http://schemas.microsoft.com/office/drawing/2014/main" id="{09BEA0CC-83A5-44C7-892D-110A2365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</a:t>
            </a:r>
            <a:endParaRPr lang="x-none" dirty="0"/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E4EEBF7C-9754-46EA-9D33-C8A057C5178B}"/>
              </a:ext>
            </a:extLst>
          </p:cNvPr>
          <p:cNvSpPr txBox="1">
            <a:spLocks/>
          </p:cNvSpPr>
          <p:nvPr/>
        </p:nvSpPr>
        <p:spPr>
          <a:xfrm>
            <a:off x="3197474" y="6112147"/>
            <a:ext cx="6024154" cy="7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</a:t>
            </a:r>
            <a:r>
              <a:rPr lang="en-US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Uc</a:t>
            </a:r>
            <a:r>
              <a:rPr lang="ru-RU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50 В (200 А)</a:t>
            </a:r>
            <a:endParaRPr lang="x-none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66D8A72B-EDA8-43AF-815D-881E86B92B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70" y="464638"/>
            <a:ext cx="5390804" cy="564750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="" xmlns:a16="http://schemas.microsoft.com/office/drawing/2014/main" id="{95608A02-7F96-436A-9056-93BEE6308EA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2237" r="31379" b="2084"/>
          <a:stretch/>
        </p:blipFill>
        <p:spPr>
          <a:xfrm rot="16200000">
            <a:off x="6608569" y="1181857"/>
            <a:ext cx="5647509" cy="421306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56382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700"/>
            <a:ext cx="12192000" cy="68561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="" xmlns:a16="http://schemas.microsoft.com/office/drawing/2014/main" id="{09BEA0CC-83A5-44C7-892D-110A2365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</a:t>
            </a:r>
            <a:endParaRPr lang="x-none" dirty="0"/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E4EEBF7C-9754-46EA-9D33-C8A057C5178B}"/>
              </a:ext>
            </a:extLst>
          </p:cNvPr>
          <p:cNvSpPr txBox="1">
            <a:spLocks/>
          </p:cNvSpPr>
          <p:nvPr/>
        </p:nvSpPr>
        <p:spPr>
          <a:xfrm>
            <a:off x="3039291" y="6008914"/>
            <a:ext cx="6566263" cy="1092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Главная панель управления</a:t>
            </a:r>
            <a:endParaRPr lang="x-none" dirty="0"/>
          </a:p>
          <a:p>
            <a:r>
              <a:rPr lang="ru-RU" b="1" dirty="0"/>
              <a:t>Выбор </a:t>
            </a:r>
            <a:r>
              <a:rPr lang="ru-RU" dirty="0"/>
              <a:t>специализированных панелей:  «Канал С»,  «Канал В», «Канал </a:t>
            </a:r>
            <a:r>
              <a:rPr lang="en-US" dirty="0"/>
              <a:t>S</a:t>
            </a:r>
            <a:r>
              <a:rPr lang="ru-RU" dirty="0"/>
              <a:t>»,  «Схема»,  «Модель»,  «Расчет».</a:t>
            </a:r>
            <a:endParaRPr lang="x-none" dirty="0"/>
          </a:p>
          <a:p>
            <a:r>
              <a:rPr lang="ru-RU" b="1" dirty="0"/>
              <a:t>Выбор</a:t>
            </a:r>
            <a:r>
              <a:rPr lang="ru-RU" dirty="0"/>
              <a:t> категории объекта.        </a:t>
            </a:r>
            <a:r>
              <a:rPr lang="ru-RU" b="1" dirty="0"/>
              <a:t>Выбор</a:t>
            </a:r>
            <a:r>
              <a:rPr lang="ru-RU" dirty="0"/>
              <a:t>  режима коммутации. </a:t>
            </a:r>
            <a:endParaRPr lang="x-none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3B81A939-852E-4D7D-B100-B7D460BE5D60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116" y="365125"/>
            <a:ext cx="7464495" cy="56437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2397465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700"/>
            <a:ext cx="12192000" cy="68561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="" xmlns:a16="http://schemas.microsoft.com/office/drawing/2014/main" id="{09BEA0CC-83A5-44C7-892D-110A2365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</a:t>
            </a:r>
            <a:endParaRPr lang="x-none" dirty="0"/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E4EEBF7C-9754-46EA-9D33-C8A057C5178B}"/>
              </a:ext>
            </a:extLst>
          </p:cNvPr>
          <p:cNvSpPr txBox="1">
            <a:spLocks/>
          </p:cNvSpPr>
          <p:nvPr/>
        </p:nvSpPr>
        <p:spPr>
          <a:xfrm>
            <a:off x="3197474" y="6112147"/>
            <a:ext cx="6024154" cy="7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Панель управления «Схема».</a:t>
            </a:r>
            <a:endParaRPr lang="x-none" dirty="0"/>
          </a:p>
          <a:p>
            <a:r>
              <a:rPr lang="ru-RU" b="1" dirty="0"/>
              <a:t>Включен</a:t>
            </a:r>
            <a:r>
              <a:rPr lang="ru-RU" dirty="0"/>
              <a:t> режим выбора категории объекта тестирования.</a:t>
            </a:r>
            <a:endParaRPr lang="x-none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0E59C6FE-1246-4F06-88CA-80BB5C5BE36F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269" y="513806"/>
            <a:ext cx="7437120" cy="55299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3354205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700"/>
            <a:ext cx="12192000" cy="68561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="" xmlns:a16="http://schemas.microsoft.com/office/drawing/2014/main" id="{09BEA0CC-83A5-44C7-892D-110A2365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</a:t>
            </a:r>
            <a:endParaRPr lang="x-none" dirty="0"/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E4EEBF7C-9754-46EA-9D33-C8A057C5178B}"/>
              </a:ext>
            </a:extLst>
          </p:cNvPr>
          <p:cNvSpPr txBox="1">
            <a:spLocks/>
          </p:cNvSpPr>
          <p:nvPr/>
        </p:nvSpPr>
        <p:spPr>
          <a:xfrm>
            <a:off x="2473234" y="5884499"/>
            <a:ext cx="6748394" cy="1005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Панель управления «Канал С».</a:t>
            </a:r>
            <a:endParaRPr lang="x-none" dirty="0"/>
          </a:p>
          <a:p>
            <a:r>
              <a:rPr lang="ru-RU" b="1" dirty="0"/>
              <a:t>Включен</a:t>
            </a:r>
            <a:r>
              <a:rPr lang="ru-RU" dirty="0"/>
              <a:t> режим выбора сигнала развертки.</a:t>
            </a:r>
            <a:endParaRPr lang="x-none" dirty="0"/>
          </a:p>
          <a:p>
            <a:r>
              <a:rPr lang="ru-RU" b="1" dirty="0"/>
              <a:t>Установка</a:t>
            </a:r>
            <a:r>
              <a:rPr lang="ru-RU" dirty="0"/>
              <a:t> диапазона источника напряжения </a:t>
            </a:r>
            <a:r>
              <a:rPr lang="en-US" dirty="0" err="1"/>
              <a:t>Uc</a:t>
            </a:r>
            <a:r>
              <a:rPr lang="ru-RU" dirty="0"/>
              <a:t> и диапазонов измерения тока и напряжения </a:t>
            </a:r>
            <a:r>
              <a:rPr lang="en-US" dirty="0" err="1"/>
              <a:t>Ic</a:t>
            </a:r>
            <a:r>
              <a:rPr lang="ru-RU" dirty="0"/>
              <a:t>, </a:t>
            </a:r>
            <a:r>
              <a:rPr lang="en-US" dirty="0" err="1"/>
              <a:t>Uc</a:t>
            </a:r>
            <a:r>
              <a:rPr lang="ru-RU" dirty="0"/>
              <a:t>.</a:t>
            </a:r>
            <a:endParaRPr lang="x-none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9D5CC010-D68F-4952-8C75-1D9B4D15ED7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772" y="365125"/>
            <a:ext cx="6913856" cy="53999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210072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61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="" xmlns:a16="http://schemas.microsoft.com/office/drawing/2014/main" id="{09BEA0CC-83A5-44C7-892D-110A2365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</a:t>
            </a:r>
            <a:endParaRPr lang="x-none" dirty="0"/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E4EEBF7C-9754-46EA-9D33-C8A057C5178B}"/>
              </a:ext>
            </a:extLst>
          </p:cNvPr>
          <p:cNvSpPr txBox="1">
            <a:spLocks/>
          </p:cNvSpPr>
          <p:nvPr/>
        </p:nvSpPr>
        <p:spPr>
          <a:xfrm>
            <a:off x="2377439" y="5761649"/>
            <a:ext cx="7245531" cy="1217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Панель управления «Канал В».</a:t>
            </a:r>
            <a:endParaRPr lang="x-none" dirty="0"/>
          </a:p>
          <a:p>
            <a:r>
              <a:rPr lang="ru-RU" b="1" dirty="0"/>
              <a:t>Установка</a:t>
            </a:r>
            <a:r>
              <a:rPr lang="ru-RU" dirty="0"/>
              <a:t>:  амплитуды ступени,  количества ступеней,  величины смещения,  полярности ступеней и смещения,  порога  ограничения.</a:t>
            </a:r>
            <a:endParaRPr lang="x-none" dirty="0"/>
          </a:p>
          <a:p>
            <a:r>
              <a:rPr lang="ru-RU" b="1" dirty="0"/>
              <a:t>Отображение</a:t>
            </a:r>
            <a:r>
              <a:rPr lang="ru-RU" dirty="0"/>
              <a:t>:  вид выходного сигнала (</a:t>
            </a:r>
            <a:r>
              <a:rPr lang="en-US" dirty="0"/>
              <a:t>I</a:t>
            </a:r>
            <a:r>
              <a:rPr lang="ru-RU" dirty="0"/>
              <a:t>,  </a:t>
            </a:r>
            <a:r>
              <a:rPr lang="en-US" dirty="0"/>
              <a:t>U</a:t>
            </a:r>
            <a:r>
              <a:rPr lang="ru-RU" dirty="0"/>
              <a:t>),  импульс (да/нет).</a:t>
            </a:r>
            <a:endParaRPr lang="x-none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E4584C0D-B06B-4CE6-9880-2ACC89DE33B5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131" y="426720"/>
            <a:ext cx="7541623" cy="54577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1301512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B948F954-D0EF-569C-86D7-096DEF0BC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700"/>
            <a:ext cx="12192000" cy="68561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A11A2971-476C-6170-679E-10A855BE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207830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="" xmlns:a16="http://schemas.microsoft.com/office/drawing/2014/main" id="{09BEA0CC-83A5-44C7-892D-110A2365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</a:t>
            </a:r>
            <a:endParaRPr lang="x-none" dirty="0"/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E4EEBF7C-9754-46EA-9D33-C8A057C5178B}"/>
              </a:ext>
            </a:extLst>
          </p:cNvPr>
          <p:cNvSpPr txBox="1">
            <a:spLocks/>
          </p:cNvSpPr>
          <p:nvPr/>
        </p:nvSpPr>
        <p:spPr>
          <a:xfrm>
            <a:off x="2473238" y="5974080"/>
            <a:ext cx="7450498" cy="1127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Панель управления «Расчет».</a:t>
            </a:r>
            <a:endParaRPr lang="x-none" dirty="0"/>
          </a:p>
          <a:p>
            <a:r>
              <a:rPr lang="ru-RU" b="1" dirty="0"/>
              <a:t>Установка</a:t>
            </a:r>
            <a:r>
              <a:rPr lang="ru-RU" dirty="0"/>
              <a:t> наименований осей графика.  </a:t>
            </a:r>
            <a:r>
              <a:rPr lang="ru-RU" b="1" dirty="0"/>
              <a:t>Указание</a:t>
            </a:r>
            <a:r>
              <a:rPr lang="ru-RU" dirty="0"/>
              <a:t> и расчет искомого параметра. </a:t>
            </a:r>
            <a:endParaRPr lang="x-none" dirty="0"/>
          </a:p>
          <a:p>
            <a:r>
              <a:rPr lang="ru-RU" b="1" dirty="0"/>
              <a:t>Установка </a:t>
            </a:r>
            <a:r>
              <a:rPr lang="ru-RU" dirty="0"/>
              <a:t>мин. и макс. значений рукава допусков.  </a:t>
            </a:r>
            <a:r>
              <a:rPr lang="ru-RU" b="1" dirty="0"/>
              <a:t>Указание</a:t>
            </a:r>
            <a:r>
              <a:rPr lang="ru-RU" dirty="0"/>
              <a:t> 1й очереди.</a:t>
            </a:r>
            <a:endParaRPr lang="x-none" dirty="0"/>
          </a:p>
          <a:p>
            <a:r>
              <a:rPr lang="ru-RU" b="1" dirty="0"/>
              <a:t>Отображение</a:t>
            </a:r>
            <a:r>
              <a:rPr lang="ru-RU" dirty="0"/>
              <a:t> таблица результатов  (на поле графика).</a:t>
            </a:r>
            <a:endParaRPr lang="x-none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B96C4E9E-BA9D-4661-A18B-59221B0E7C9F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264" y="365125"/>
            <a:ext cx="7450499" cy="56089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3448292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B9C18729-2E87-F7DF-BFB6-6A2B562442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0F68927-D5A8-EAB2-1AAE-7E23AC62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47"/>
            <a:ext cx="12192000" cy="184569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Основные работы по ОКР Линия-2 </a:t>
            </a:r>
            <a:br>
              <a:rPr lang="ru-RU" b="1" dirty="0">
                <a:solidFill>
                  <a:srgbClr val="002060"/>
                </a:solidFill>
              </a:rPr>
            </a:br>
            <a:r>
              <a:rPr lang="ru-RU" b="1" dirty="0">
                <a:solidFill>
                  <a:srgbClr val="002060"/>
                </a:solidFill>
              </a:rPr>
              <a:t>в 2025 году </a:t>
            </a:r>
            <a:br>
              <a:rPr lang="ru-RU" b="1" dirty="0">
                <a:solidFill>
                  <a:srgbClr val="002060"/>
                </a:solidFill>
              </a:rPr>
            </a:br>
            <a:r>
              <a:rPr lang="ru-RU" sz="2800" b="1" dirty="0">
                <a:solidFill>
                  <a:srgbClr val="002060"/>
                </a:solidFill>
              </a:rPr>
              <a:t>(продолжительность 9 мес.)</a:t>
            </a:r>
            <a:endParaRPr lang="x-none" sz="14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39AAC6A5-3E18-CC7E-7685-9A97D577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1654628" y="2262664"/>
            <a:ext cx="9347200" cy="4205014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Разработка структурной схемы и функциональных схем измерительных каналов (В,С)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2.   Разработка электрических схем каналов В и С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3.   Разработка эскизной КД на макеты узлов (В и С)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4.   Разработка укрупненного алгоритма функционирования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измерителя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5.   Изготовление и испытание макетов узлов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6.   Разработка ПО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7.   Разработка КД</a:t>
            </a:r>
          </a:p>
          <a:p>
            <a:pPr marL="0" indent="0">
              <a:buNone/>
            </a:pPr>
            <a:endParaRPr lang="ru-RU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26368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9C18729-2E87-F7DF-BFB6-6A2B562442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256375" y="1091699"/>
            <a:ext cx="11630825" cy="4205014"/>
          </a:xfrm>
        </p:spPr>
        <p:txBody>
          <a:bodyPr>
            <a:noAutofit/>
          </a:bodyPr>
          <a:lstStyle/>
          <a:p>
            <a:pPr marL="514350" lvl="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ru-RU" sz="2000" b="1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Дисплей </a:t>
            </a:r>
            <a:r>
              <a:rPr lang="ru-R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УШЯИ.467859.024 (в состав входят контроллер УШЯИ.467444.130, панель УШЯИ.301413.342);</a:t>
            </a:r>
          </a:p>
          <a:p>
            <a:pPr marL="514350" lvl="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ru-R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Источник напряжения 50 В УШЯИ.411522.032 (в состав входят плата УШЯИ.687253.018, плата УШЯИ.687253.017);</a:t>
            </a:r>
          </a:p>
          <a:p>
            <a:pPr marL="514350" lvl="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ru-R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Источник-измеритель УШЯИ.411618.029</a:t>
            </a:r>
            <a:r>
              <a:rPr lang="en-US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  <a:endParaRPr lang="ru-RU" sz="2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514350" lvl="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ru-R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Блок питания УШЯИ.436224.015 (в состав входят плата УШЯИ.687243.347, плата УШЯИ.687243.348, </a:t>
            </a:r>
            <a:r>
              <a:rPr lang="ru-RU" sz="2000" b="1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плата </a:t>
            </a:r>
            <a:r>
              <a:rPr lang="ru-R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УШЯИ.687243.349);</a:t>
            </a:r>
          </a:p>
          <a:p>
            <a:pPr marL="514350" lvl="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ru-R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Источник напряжения УШЯИ.411522.034 (в состав входят плата выпрямителя УШЯИ.687233.019, </a:t>
            </a:r>
            <a:r>
              <a:rPr lang="ru-RU" sz="2000" b="1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    плата </a:t>
            </a:r>
            <a:r>
              <a:rPr lang="ru-R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защиты УШЯИ.687242.236, плата источника УШЯИ.687245.044);</a:t>
            </a:r>
          </a:p>
          <a:p>
            <a:pPr marL="514350" lvl="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ru-R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Формирователь развертки УШЯИ.411522.033</a:t>
            </a:r>
            <a:r>
              <a:rPr lang="en-US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  <a:endParaRPr lang="ru-RU" sz="2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514350" lvl="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ru-R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Коммутатор УШЯИ.468213.012</a:t>
            </a:r>
            <a:r>
              <a:rPr lang="en-US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.</a:t>
            </a:r>
            <a:endParaRPr lang="ru-RU" sz="2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ru-RU" sz="1800" b="1" dirty="0" smtClean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164222" y="0"/>
            <a:ext cx="8553628" cy="132556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Перечень </a:t>
            </a:r>
            <a:r>
              <a:rPr lang="ru-RU" b="1" dirty="0" smtClean="0">
                <a:solidFill>
                  <a:srgbClr val="002060"/>
                </a:solidFill>
              </a:rPr>
              <a:t>функциональных </a:t>
            </a:r>
            <a:r>
              <a:rPr lang="ru-RU" b="1" dirty="0">
                <a:solidFill>
                  <a:srgbClr val="002060"/>
                </a:solidFill>
              </a:rPr>
              <a:t>блоков</a:t>
            </a:r>
            <a:r>
              <a:rPr lang="ru-RU" b="1" dirty="0" smtClean="0">
                <a:solidFill>
                  <a:srgbClr val="002060"/>
                </a:solidFill>
              </a:rPr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602473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9C18729-2E87-F7DF-BFB6-6A2B562442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0F68927-D5A8-EAB2-1AAE-7E23AC62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47"/>
            <a:ext cx="12192000" cy="1845696"/>
          </a:xfrm>
        </p:spPr>
        <p:txBody>
          <a:bodyPr>
            <a:normAutofit/>
          </a:bodyPr>
          <a:lstStyle/>
          <a:p>
            <a:pPr algn="ctr"/>
            <a:r>
              <a:rPr lang="ru-RU" b="1" dirty="0" smtClean="0">
                <a:solidFill>
                  <a:srgbClr val="002060"/>
                </a:solidFill>
              </a:rPr>
              <a:t>Основные работы по ОКР Линия-2 </a:t>
            </a:r>
            <a:br>
              <a:rPr lang="ru-RU" b="1" dirty="0" smtClean="0">
                <a:solidFill>
                  <a:srgbClr val="002060"/>
                </a:solidFill>
              </a:rPr>
            </a:br>
            <a:r>
              <a:rPr lang="ru-RU" b="1" dirty="0" smtClean="0">
                <a:solidFill>
                  <a:srgbClr val="002060"/>
                </a:solidFill>
              </a:rPr>
              <a:t>в 2026 году </a:t>
            </a:r>
            <a:endParaRPr lang="x-none" sz="14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39AAC6A5-3E18-CC7E-7685-9A97D577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1486968" y="1872343"/>
            <a:ext cx="9477286" cy="4205014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32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Разработка </a:t>
            </a:r>
            <a:r>
              <a:rPr lang="ru-RU" sz="3200" b="1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полного комплекта КД на анализатор.</a:t>
            </a:r>
            <a:endParaRPr lang="ru-RU" sz="32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32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2. </a:t>
            </a:r>
            <a:r>
              <a:rPr lang="ru-RU" sz="3200" b="1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Изготовление опытных образцов.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ru-RU" sz="3200" b="1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Настройка, предварительные испытания, коррекция КД с присвоением литеры «О».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b="1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4.   Опытная эксплуатация на базе ОАО «Интеграл».</a:t>
            </a:r>
            <a:endParaRPr lang="ru-RU" sz="32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02473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FE96AAF9-9393-577B-546A-BF0614EB67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02E13B8-E898-9E53-4646-5845B0EA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603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Проблемные вопросы</a:t>
            </a:r>
            <a:endParaRPr lang="x-none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96F58A1E-B9A0-C018-F937-2F674D8E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25542"/>
            <a:ext cx="2743200" cy="365125"/>
          </a:xfrm>
        </p:spPr>
        <p:txBody>
          <a:bodyPr/>
          <a:lstStyle/>
          <a:p>
            <a:fld id="{A794395B-0734-45D0-B7FF-9642190F6E2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551544" y="1505993"/>
            <a:ext cx="11306628" cy="4919549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Короткие сроки выполнения ОКР (в особенности работы 2025 года.)</a:t>
            </a:r>
          </a:p>
          <a:p>
            <a:pPr marL="514350" indent="-514350">
              <a:buAutoNum type="arabicPeriod" startAt="2"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Необходимость решения сложных технических задач: функционирование в широком диапазоне измеряемых токов  (10</a:t>
            </a:r>
            <a:r>
              <a:rPr lang="ru-RU" b="1" baseline="30000" dirty="0"/>
              <a:t>-9</a:t>
            </a: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– 200 А) и напряжений (до 3 </a:t>
            </a:r>
            <a:r>
              <a:rPr lang="ru-RU" b="1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кВ</a:t>
            </a: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), разработка ПО (</a:t>
            </a:r>
            <a:r>
              <a:rPr lang="en-US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OC Linux)</a:t>
            </a: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, разработка конструкции прибора, обеспечение ЭМС.</a:t>
            </a:r>
          </a:p>
          <a:p>
            <a:pPr marL="514350" indent="-514350">
              <a:buAutoNum type="arabicPeriod" startAt="2"/>
            </a:pPr>
            <a:r>
              <a:rPr lang="ru-RU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Ожидаемые проблемы при изготовлении макетов и опытных образцов: в изделии имеются сложные конструктивные узлы и ЭКБ с высокими </a:t>
            </a:r>
            <a:r>
              <a:rPr lang="ru-RU" b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параметрами</a:t>
            </a:r>
            <a:r>
              <a:rPr lang="ru-RU" b="1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.</a:t>
            </a:r>
            <a:endParaRPr lang="ru-RU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9696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71375649-0689-608E-1447-2A4F489BF6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0D03F35-3F6A-5CF0-0243-C8575A0669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i="1" dirty="0">
                <a:solidFill>
                  <a:srgbClr val="002060"/>
                </a:solidFill>
              </a:rPr>
              <a:t>СПАСИБО ЗА ВНИМАНИЕ!</a:t>
            </a:r>
            <a:endParaRPr lang="x-none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206054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4401</TotalTime>
  <Words>685</Words>
  <Application>Microsoft Office PowerPoint</Application>
  <PresentationFormat>Произвольный</PresentationFormat>
  <Paragraphs>141</Paragraphs>
  <Slides>25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ОКР «Разработать и освоить производство программируемого измерителя параметров полупроводниковых приборов повышенной мощности», шифр «Линия-2»</vt:lpstr>
      <vt:lpstr>Актуальность работы</vt:lpstr>
      <vt:lpstr>Цель</vt:lpstr>
      <vt:lpstr>Задачи</vt:lpstr>
      <vt:lpstr>Измерители параметров полупроводников приборов, созданные ОАО «МНИПИ»</vt:lpstr>
      <vt:lpstr>Новизна разработки</vt:lpstr>
      <vt:lpstr>Календарный план на 1 кв. 2025 г. – 1 кв. 2027 г.</vt:lpstr>
      <vt:lpstr>(продолжение)</vt:lpstr>
      <vt:lpstr>Структурные и функциональные схемы</vt:lpstr>
      <vt:lpstr>Структурные и функциональные схемы</vt:lpstr>
      <vt:lpstr>Структурные и функциональные схемы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Основные работы по ОКР Линия-2  в 2025 году  (продолжительность 9 мес.)</vt:lpstr>
      <vt:lpstr>Перечень функциональных блоков:</vt:lpstr>
      <vt:lpstr>Основные работы по ОКР Линия-2  в 2026 году </vt:lpstr>
      <vt:lpstr>Проблемные вопросы</vt:lpstr>
      <vt:lpstr>СПАСИБО ЗА ВНИМАНИЕ!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Рачицкий А.М.</dc:creator>
  <cp:lastModifiedBy>Admin</cp:lastModifiedBy>
  <cp:revision>202</cp:revision>
  <cp:lastPrinted>2024-09-10T06:44:47Z</cp:lastPrinted>
  <dcterms:created xsi:type="dcterms:W3CDTF">2021-11-26T14:01:48Z</dcterms:created>
  <dcterms:modified xsi:type="dcterms:W3CDTF">2026-01-16T09:48:08Z</dcterms:modified>
</cp:coreProperties>
</file>